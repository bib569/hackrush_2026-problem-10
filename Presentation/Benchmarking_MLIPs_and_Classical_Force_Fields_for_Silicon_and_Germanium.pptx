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2" d="100"/>
          <a:sy n="142" d="100"/>
        </p:scale>
        <p:origin x="108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5224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375" y="1558063"/>
            <a:ext cx="7143750" cy="1648755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4" name="Text 1"/>
          <p:cNvSpPr/>
          <p:nvPr/>
        </p:nvSpPr>
        <p:spPr>
          <a:xfrm>
            <a:off x="1285875" y="1986688"/>
            <a:ext cx="6000750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BENCHMARKING MLIPS &amp; FORCE FIELDS</a:t>
            </a:r>
            <a:endParaRPr lang="en-US" sz="3294" dirty="0"/>
          </a:p>
        </p:txBody>
      </p:sp>
      <p:sp>
        <p:nvSpPr>
          <p:cNvPr id="5" name="Text 2"/>
          <p:cNvSpPr/>
          <p:nvPr/>
        </p:nvSpPr>
        <p:spPr>
          <a:xfrm>
            <a:off x="1143000" y="3278256"/>
            <a:ext cx="5895396" cy="268471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C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Comprehensive Study on Silicon and Germanium</a:t>
            </a:r>
            <a:endParaRPr lang="en-US" sz="1704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" y="0"/>
            <a:ext cx="9144000" cy="1071563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85750"/>
            <a:ext cx="914400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INTRODUCTION: THE CHALLENGE OF INTERATOMIC POTENTIALS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428625" y="1571625"/>
            <a:ext cx="4000500" cy="6697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Molecular Dynamics (MD) is essential for modeling material behavior at the atomistic level. However, its accuracy is fundamentally limited by the </a:t>
            </a:r>
            <a:r>
              <a:rPr lang="en-US" sz="987" b="1" dirty="0">
                <a:solidFill>
                  <a:srgbClr val="0F76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interatomic potential</a:t>
            </a:r>
            <a:r>
              <a:rPr lang="en-US" sz="1050" dirty="0">
                <a:solidFill>
                  <a:srgbClr val="5753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5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used.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28625" y="2628900"/>
            <a:ext cx="4000500" cy="841512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 benchmark four Machine Learning Interatomic Potentials (MLIPs) and two classical potentials for Silicon and Germanium.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714875" y="1543050"/>
            <a:ext cx="1330161" cy="310753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8" name="Text 5"/>
          <p:cNvSpPr/>
          <p:nvPr/>
        </p:nvSpPr>
        <p:spPr>
          <a:xfrm>
            <a:off x="4714875" y="1543050"/>
            <a:ext cx="1330161" cy="31075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</a:t>
            </a:r>
            <a:endParaRPr lang="en-US" sz="784" dirty="0"/>
          </a:p>
        </p:txBody>
      </p:sp>
      <p:sp>
        <p:nvSpPr>
          <p:cNvPr id="9" name="Shape 6"/>
          <p:cNvSpPr/>
          <p:nvPr/>
        </p:nvSpPr>
        <p:spPr>
          <a:xfrm>
            <a:off x="6045036" y="1543050"/>
            <a:ext cx="1474905" cy="310753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10" name="Text 7"/>
          <p:cNvSpPr/>
          <p:nvPr/>
        </p:nvSpPr>
        <p:spPr>
          <a:xfrm>
            <a:off x="6045036" y="1543050"/>
            <a:ext cx="1474905" cy="31075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CLASSICAL</a:t>
            </a:r>
            <a:endParaRPr lang="en-US" sz="784" dirty="0"/>
          </a:p>
        </p:txBody>
      </p:sp>
      <p:sp>
        <p:nvSpPr>
          <p:cNvPr id="11" name="Shape 8"/>
          <p:cNvSpPr/>
          <p:nvPr/>
        </p:nvSpPr>
        <p:spPr>
          <a:xfrm>
            <a:off x="7519941" y="1543050"/>
            <a:ext cx="1195434" cy="310753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12" name="Text 9"/>
          <p:cNvSpPr/>
          <p:nvPr/>
        </p:nvSpPr>
        <p:spPr>
          <a:xfrm>
            <a:off x="7519941" y="1543050"/>
            <a:ext cx="1195434" cy="31075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MLIPS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4714875" y="1842801"/>
            <a:ext cx="1330161" cy="33990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Efficiency</a:t>
            </a:r>
            <a:endParaRPr lang="en-US" sz="834" dirty="0"/>
          </a:p>
        </p:txBody>
      </p:sp>
      <p:sp>
        <p:nvSpPr>
          <p:cNvPr id="14" name="Text 11"/>
          <p:cNvSpPr/>
          <p:nvPr/>
        </p:nvSpPr>
        <p:spPr>
          <a:xfrm>
            <a:off x="6045036" y="1842801"/>
            <a:ext cx="1474905" cy="33990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Very High</a:t>
            </a:r>
            <a:endParaRPr lang="en-US" sz="834" dirty="0"/>
          </a:p>
        </p:txBody>
      </p:sp>
      <p:sp>
        <p:nvSpPr>
          <p:cNvPr id="15" name="Text 12"/>
          <p:cNvSpPr/>
          <p:nvPr/>
        </p:nvSpPr>
        <p:spPr>
          <a:xfrm>
            <a:off x="7519941" y="1853803"/>
            <a:ext cx="1195434" cy="31789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Moderate</a:t>
            </a:r>
            <a:endParaRPr lang="en-US" sz="834" dirty="0"/>
          </a:p>
        </p:txBody>
      </p:sp>
      <p:sp>
        <p:nvSpPr>
          <p:cNvPr id="16" name="Text 13"/>
          <p:cNvSpPr/>
          <p:nvPr/>
        </p:nvSpPr>
        <p:spPr>
          <a:xfrm>
            <a:off x="4714875" y="2171700"/>
            <a:ext cx="1330161" cy="32504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Accuracy</a:t>
            </a:r>
            <a:endParaRPr lang="en-US" sz="834" dirty="0"/>
          </a:p>
        </p:txBody>
      </p:sp>
      <p:sp>
        <p:nvSpPr>
          <p:cNvPr id="17" name="Text 14"/>
          <p:cNvSpPr/>
          <p:nvPr/>
        </p:nvSpPr>
        <p:spPr>
          <a:xfrm>
            <a:off x="6045036" y="2171700"/>
            <a:ext cx="1474905" cy="32504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Limited</a:t>
            </a:r>
            <a:endParaRPr lang="en-US" sz="834" dirty="0"/>
          </a:p>
        </p:txBody>
      </p:sp>
      <p:sp>
        <p:nvSpPr>
          <p:cNvPr id="18" name="Text 15"/>
          <p:cNvSpPr/>
          <p:nvPr/>
        </p:nvSpPr>
        <p:spPr>
          <a:xfrm>
            <a:off x="7519941" y="2171700"/>
            <a:ext cx="1195434" cy="32504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Near-DFT</a:t>
            </a:r>
            <a:endParaRPr lang="en-US" sz="834" dirty="0"/>
          </a:p>
        </p:txBody>
      </p:sp>
      <p:sp>
        <p:nvSpPr>
          <p:cNvPr id="19" name="Text 16"/>
          <p:cNvSpPr/>
          <p:nvPr/>
        </p:nvSpPr>
        <p:spPr>
          <a:xfrm>
            <a:off x="4714875" y="2496741"/>
            <a:ext cx="1330161" cy="32504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Transferability</a:t>
            </a:r>
            <a:endParaRPr lang="en-US" sz="834" dirty="0"/>
          </a:p>
        </p:txBody>
      </p:sp>
      <p:sp>
        <p:nvSpPr>
          <p:cNvPr id="20" name="Text 17"/>
          <p:cNvSpPr/>
          <p:nvPr/>
        </p:nvSpPr>
        <p:spPr>
          <a:xfrm>
            <a:off x="6045036" y="2496741"/>
            <a:ext cx="1474905" cy="32504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Poor</a:t>
            </a:r>
            <a:endParaRPr lang="en-US" sz="834" dirty="0"/>
          </a:p>
        </p:txBody>
      </p:sp>
      <p:sp>
        <p:nvSpPr>
          <p:cNvPr id="21" name="Text 18"/>
          <p:cNvSpPr/>
          <p:nvPr/>
        </p:nvSpPr>
        <p:spPr>
          <a:xfrm>
            <a:off x="7519941" y="2496741"/>
            <a:ext cx="1195434" cy="32504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Excellent</a:t>
            </a:r>
            <a:endParaRPr lang="en-US" sz="834" dirty="0"/>
          </a:p>
        </p:txBody>
      </p:sp>
      <p:sp>
        <p:nvSpPr>
          <p:cNvPr id="22" name="Text 19"/>
          <p:cNvSpPr/>
          <p:nvPr/>
        </p:nvSpPr>
        <p:spPr>
          <a:xfrm>
            <a:off x="4714875" y="2821781"/>
            <a:ext cx="1330161" cy="32504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Formulation</a:t>
            </a:r>
            <a:endParaRPr lang="en-US" sz="834" dirty="0"/>
          </a:p>
        </p:txBody>
      </p:sp>
      <p:sp>
        <p:nvSpPr>
          <p:cNvPr id="23" name="Text 20"/>
          <p:cNvSpPr/>
          <p:nvPr/>
        </p:nvSpPr>
        <p:spPr>
          <a:xfrm>
            <a:off x="6045036" y="2821781"/>
            <a:ext cx="1474905" cy="32504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Fixed Analytical</a:t>
            </a:r>
            <a:endParaRPr lang="en-US" sz="834" dirty="0"/>
          </a:p>
        </p:txBody>
      </p:sp>
      <p:sp>
        <p:nvSpPr>
          <p:cNvPr id="24" name="Text 21"/>
          <p:cNvSpPr/>
          <p:nvPr/>
        </p:nvSpPr>
        <p:spPr>
          <a:xfrm>
            <a:off x="7519941" y="2821781"/>
            <a:ext cx="1195434" cy="32504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Data-Driven</a:t>
            </a:r>
            <a:endParaRPr lang="en-US" sz="83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36092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" y="0"/>
            <a:ext cx="9144000" cy="108585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85750"/>
            <a:ext cx="914400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METHODOLOGY: REFERENCE DATA &amp; MODELS</a:t>
            </a:r>
            <a:endParaRPr lang="en-US" sz="1602" dirty="0"/>
          </a:p>
        </p:txBody>
      </p:sp>
      <p:sp>
        <p:nvSpPr>
          <p:cNvPr id="5" name="Shape 2"/>
          <p:cNvSpPr/>
          <p:nvPr/>
        </p:nvSpPr>
        <p:spPr>
          <a:xfrm>
            <a:off x="428625" y="1993392"/>
            <a:ext cx="1393031" cy="28217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" name="Text 3"/>
          <p:cNvSpPr/>
          <p:nvPr/>
        </p:nvSpPr>
        <p:spPr>
          <a:xfrm>
            <a:off x="428625" y="1993392"/>
            <a:ext cx="1393031" cy="282178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REFERENCE DATA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428625" y="2361295"/>
            <a:ext cx="366279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Ground-truth values from DFT (GGA-PBE) and Experimental measurements.</a:t>
            </a:r>
            <a:endParaRPr lang="en-US" sz="834" dirty="0"/>
          </a:p>
        </p:txBody>
      </p:sp>
      <p:sp>
        <p:nvSpPr>
          <p:cNvPr id="8" name="Shape 5"/>
          <p:cNvSpPr/>
          <p:nvPr/>
        </p:nvSpPr>
        <p:spPr>
          <a:xfrm>
            <a:off x="428625" y="2725626"/>
            <a:ext cx="1734982" cy="264319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9" name="Text 6"/>
          <p:cNvSpPr/>
          <p:nvPr/>
        </p:nvSpPr>
        <p:spPr>
          <a:xfrm>
            <a:off x="428625" y="2725626"/>
            <a:ext cx="1734982" cy="26431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Element</a:t>
            </a:r>
            <a:endParaRPr lang="en-US" sz="683" dirty="0"/>
          </a:p>
        </p:txBody>
      </p:sp>
      <p:sp>
        <p:nvSpPr>
          <p:cNvPr id="10" name="Shape 7"/>
          <p:cNvSpPr/>
          <p:nvPr/>
        </p:nvSpPr>
        <p:spPr>
          <a:xfrm>
            <a:off x="2163607" y="2725626"/>
            <a:ext cx="960611" cy="264319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11" name="Text 8"/>
          <p:cNvSpPr/>
          <p:nvPr/>
        </p:nvSpPr>
        <p:spPr>
          <a:xfrm>
            <a:off x="2163607" y="2725626"/>
            <a:ext cx="960611" cy="26431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(DFT)</a:t>
            </a:r>
            <a:endParaRPr lang="en-US" sz="683" dirty="0"/>
          </a:p>
        </p:txBody>
      </p:sp>
      <p:sp>
        <p:nvSpPr>
          <p:cNvPr id="12" name="Shape 9"/>
          <p:cNvSpPr/>
          <p:nvPr/>
        </p:nvSpPr>
        <p:spPr>
          <a:xfrm>
            <a:off x="3124219" y="2725626"/>
            <a:ext cx="967197" cy="264319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13" name="Text 10"/>
          <p:cNvSpPr/>
          <p:nvPr/>
        </p:nvSpPr>
        <p:spPr>
          <a:xfrm>
            <a:off x="3124219" y="2725626"/>
            <a:ext cx="967197" cy="26431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 (DFT)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428625" y="2989945"/>
            <a:ext cx="1734982" cy="239316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Silicon (Si)</a:t>
            </a:r>
            <a:endParaRPr lang="en-US" sz="727" dirty="0"/>
          </a:p>
        </p:txBody>
      </p:sp>
      <p:sp>
        <p:nvSpPr>
          <p:cNvPr id="15" name="Text 12"/>
          <p:cNvSpPr/>
          <p:nvPr/>
        </p:nvSpPr>
        <p:spPr>
          <a:xfrm>
            <a:off x="2163607" y="2989945"/>
            <a:ext cx="960611" cy="239316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5.469 Å</a:t>
            </a:r>
            <a:endParaRPr lang="en-US" sz="727" dirty="0"/>
          </a:p>
        </p:txBody>
      </p:sp>
      <p:sp>
        <p:nvSpPr>
          <p:cNvPr id="16" name="Text 13"/>
          <p:cNvSpPr/>
          <p:nvPr/>
        </p:nvSpPr>
        <p:spPr>
          <a:xfrm>
            <a:off x="3124219" y="2989945"/>
            <a:ext cx="967197" cy="239316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-5.43 eV</a:t>
            </a:r>
            <a:endParaRPr lang="en-US" sz="727" dirty="0"/>
          </a:p>
        </p:txBody>
      </p:sp>
      <p:sp>
        <p:nvSpPr>
          <p:cNvPr id="17" name="Text 14"/>
          <p:cNvSpPr/>
          <p:nvPr/>
        </p:nvSpPr>
        <p:spPr>
          <a:xfrm>
            <a:off x="428625" y="3229261"/>
            <a:ext cx="1734982" cy="24288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Germanium (Ge)</a:t>
            </a:r>
            <a:endParaRPr lang="en-US" sz="727" dirty="0"/>
          </a:p>
        </p:txBody>
      </p:sp>
      <p:sp>
        <p:nvSpPr>
          <p:cNvPr id="18" name="Text 15"/>
          <p:cNvSpPr/>
          <p:nvPr/>
        </p:nvSpPr>
        <p:spPr>
          <a:xfrm>
            <a:off x="2163607" y="3229261"/>
            <a:ext cx="960611" cy="24288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5.763 Å</a:t>
            </a:r>
            <a:endParaRPr lang="en-US" sz="727" dirty="0"/>
          </a:p>
        </p:txBody>
      </p:sp>
      <p:sp>
        <p:nvSpPr>
          <p:cNvPr id="19" name="Text 16"/>
          <p:cNvSpPr/>
          <p:nvPr/>
        </p:nvSpPr>
        <p:spPr>
          <a:xfrm>
            <a:off x="3124219" y="3229261"/>
            <a:ext cx="967197" cy="24288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-4.62 eV</a:t>
            </a:r>
            <a:endParaRPr lang="en-US" sz="727" dirty="0"/>
          </a:p>
        </p:txBody>
      </p:sp>
      <p:sp>
        <p:nvSpPr>
          <p:cNvPr id="20" name="Shape 17"/>
          <p:cNvSpPr/>
          <p:nvPr/>
        </p:nvSpPr>
        <p:spPr>
          <a:xfrm>
            <a:off x="4320015" y="1993392"/>
            <a:ext cx="1839516" cy="28217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1" name="Text 18"/>
          <p:cNvSpPr/>
          <p:nvPr/>
        </p:nvSpPr>
        <p:spPr>
          <a:xfrm>
            <a:off x="4320015" y="1993392"/>
            <a:ext cx="1839516" cy="282178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EVALUATED POTENTIALS</a:t>
            </a:r>
            <a:endParaRPr lang="en-US" sz="784" dirty="0"/>
          </a:p>
        </p:txBody>
      </p:sp>
      <p:sp>
        <p:nvSpPr>
          <p:cNvPr id="22" name="Text 19"/>
          <p:cNvSpPr/>
          <p:nvPr/>
        </p:nvSpPr>
        <p:spPr>
          <a:xfrm>
            <a:off x="4320015" y="2361295"/>
            <a:ext cx="4395332" cy="27860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C19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MACE-MP-0</a:t>
            </a:r>
            <a:r>
              <a:rPr lang="en-US" sz="834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
</a:t>
            </a:r>
            <a:r>
              <a:rPr lang="en-US" sz="727" dirty="0">
                <a:solidFill>
                  <a:srgbClr val="5753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Pre-trained foundation model, ACE-based descriptors.</a:t>
            </a:r>
            <a:endParaRPr lang="en-US" sz="834" dirty="0"/>
          </a:p>
        </p:txBody>
      </p:sp>
      <p:sp>
        <p:nvSpPr>
          <p:cNvPr id="23" name="Text 20"/>
          <p:cNvSpPr/>
          <p:nvPr/>
        </p:nvSpPr>
        <p:spPr>
          <a:xfrm>
            <a:off x="4320015" y="2711339"/>
            <a:ext cx="4395332" cy="27860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C19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CHGNet</a:t>
            </a:r>
            <a:r>
              <a:rPr lang="en-US" sz="834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
</a:t>
            </a:r>
            <a:r>
              <a:rPr lang="en-US" sz="727" dirty="0">
                <a:solidFill>
                  <a:srgbClr val="5753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Pre-trained, incorporates magnetic moments for charge modeling.</a:t>
            </a:r>
            <a:endParaRPr lang="en-US" sz="834" dirty="0"/>
          </a:p>
        </p:txBody>
      </p:sp>
      <p:sp>
        <p:nvSpPr>
          <p:cNvPr id="24" name="Text 21"/>
          <p:cNvSpPr/>
          <p:nvPr/>
        </p:nvSpPr>
        <p:spPr>
          <a:xfrm>
            <a:off x="4320015" y="3061383"/>
            <a:ext cx="4395332" cy="27860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C19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DPA-3 SemiCond</a:t>
            </a:r>
            <a:r>
              <a:rPr lang="en-US" sz="834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
</a:t>
            </a:r>
            <a:r>
              <a:rPr lang="en-US" sz="727" dirty="0">
                <a:solidFill>
                  <a:srgbClr val="5753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Pre-trained specifically for semiconductor materials.</a:t>
            </a:r>
            <a:endParaRPr lang="en-US" sz="834" dirty="0"/>
          </a:p>
        </p:txBody>
      </p:sp>
      <p:sp>
        <p:nvSpPr>
          <p:cNvPr id="25" name="Text 22"/>
          <p:cNvSpPr/>
          <p:nvPr/>
        </p:nvSpPr>
        <p:spPr>
          <a:xfrm>
            <a:off x="4320015" y="3411426"/>
            <a:ext cx="4395332" cy="27860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C19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DeepMD (Fine-tuned)</a:t>
            </a:r>
            <a:r>
              <a:rPr lang="en-US" sz="834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
</a:t>
            </a:r>
            <a:r>
              <a:rPr lang="en-US" sz="727" dirty="0">
                <a:solidFill>
                  <a:srgbClr val="5753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Trained on MACE-teacher data with Optuna HPO.</a:t>
            </a:r>
            <a:endParaRPr lang="en-US" sz="834" dirty="0"/>
          </a:p>
        </p:txBody>
      </p:sp>
      <p:sp>
        <p:nvSpPr>
          <p:cNvPr id="26" name="Text 23"/>
          <p:cNvSpPr/>
          <p:nvPr/>
        </p:nvSpPr>
        <p:spPr>
          <a:xfrm>
            <a:off x="4320015" y="3761470"/>
            <a:ext cx="4395332" cy="27860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C19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Classical (Tersoff, SW)</a:t>
            </a:r>
            <a:r>
              <a:rPr lang="en-US" sz="834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
</a:t>
            </a:r>
            <a:r>
              <a:rPr lang="en-US" sz="727" dirty="0">
                <a:solidFill>
                  <a:srgbClr val="5753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Traditional analytical bond-order and angular potentials.</a:t>
            </a:r>
            <a:endParaRPr lang="en-US" sz="83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572625" cy="1071563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85750"/>
            <a:ext cx="914400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RESULTS: LATTICE CONSTANT PARITY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428625" y="1485900"/>
            <a:ext cx="4000500" cy="3680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parity plot compares predicted equilibrium lattice constants against DFT reference values for both Silicon and Germanium.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428625" y="2207419"/>
            <a:ext cx="1424257" cy="27146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C19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</a:t>
            </a:r>
            <a:endParaRPr lang="en-US" sz="683" dirty="0"/>
          </a:p>
        </p:txBody>
      </p:sp>
      <p:sp>
        <p:nvSpPr>
          <p:cNvPr id="7" name="Text 4"/>
          <p:cNvSpPr/>
          <p:nvPr/>
        </p:nvSpPr>
        <p:spPr>
          <a:xfrm>
            <a:off x="1852882" y="2207419"/>
            <a:ext cx="1248956" cy="27146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C19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 Error (%)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3101839" y="2207419"/>
            <a:ext cx="1327286" cy="27146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C19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 Error (%)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485775" y="2557463"/>
            <a:ext cx="384721" cy="139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CHGNet</a:t>
            </a:r>
            <a:endParaRPr lang="en-US" sz="727" dirty="0"/>
          </a:p>
        </p:txBody>
      </p:sp>
      <p:sp>
        <p:nvSpPr>
          <p:cNvPr id="10" name="Text 7"/>
          <p:cNvSpPr/>
          <p:nvPr/>
        </p:nvSpPr>
        <p:spPr>
          <a:xfrm>
            <a:off x="1852882" y="2478881"/>
            <a:ext cx="1248956" cy="27503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0.09%</a:t>
            </a:r>
            <a:endParaRPr lang="en-US" sz="727" dirty="0"/>
          </a:p>
        </p:txBody>
      </p:sp>
      <p:sp>
        <p:nvSpPr>
          <p:cNvPr id="11" name="Text 8"/>
          <p:cNvSpPr/>
          <p:nvPr/>
        </p:nvSpPr>
        <p:spPr>
          <a:xfrm>
            <a:off x="3101839" y="2478881"/>
            <a:ext cx="1327286" cy="27503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0.08%</a:t>
            </a:r>
            <a:endParaRPr lang="en-US" sz="727" dirty="0"/>
          </a:p>
        </p:txBody>
      </p:sp>
      <p:sp>
        <p:nvSpPr>
          <p:cNvPr id="12" name="Text 9"/>
          <p:cNvSpPr/>
          <p:nvPr/>
        </p:nvSpPr>
        <p:spPr>
          <a:xfrm>
            <a:off x="428625" y="2751052"/>
            <a:ext cx="1424257" cy="27719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MACE-MP-0</a:t>
            </a:r>
            <a:endParaRPr lang="en-US" sz="727" dirty="0"/>
          </a:p>
        </p:txBody>
      </p:sp>
      <p:sp>
        <p:nvSpPr>
          <p:cNvPr id="13" name="Text 10"/>
          <p:cNvSpPr/>
          <p:nvPr/>
        </p:nvSpPr>
        <p:spPr>
          <a:xfrm>
            <a:off x="1852882" y="2751052"/>
            <a:ext cx="1248956" cy="27719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0.23%</a:t>
            </a:r>
            <a:endParaRPr lang="en-US" sz="727" dirty="0"/>
          </a:p>
        </p:txBody>
      </p:sp>
      <p:sp>
        <p:nvSpPr>
          <p:cNvPr id="14" name="Text 11"/>
          <p:cNvSpPr/>
          <p:nvPr/>
        </p:nvSpPr>
        <p:spPr>
          <a:xfrm>
            <a:off x="3101839" y="2751052"/>
            <a:ext cx="1327286" cy="27719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0.12%</a:t>
            </a:r>
            <a:endParaRPr lang="en-US" sz="727" dirty="0"/>
          </a:p>
        </p:txBody>
      </p:sp>
      <p:sp>
        <p:nvSpPr>
          <p:cNvPr id="15" name="Text 12"/>
          <p:cNvSpPr/>
          <p:nvPr/>
        </p:nvSpPr>
        <p:spPr>
          <a:xfrm>
            <a:off x="428625" y="3022514"/>
            <a:ext cx="1424257" cy="27719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Classical (Avg)</a:t>
            </a:r>
            <a:endParaRPr lang="en-US" sz="727" dirty="0"/>
          </a:p>
        </p:txBody>
      </p:sp>
      <p:sp>
        <p:nvSpPr>
          <p:cNvPr id="16" name="Text 13"/>
          <p:cNvSpPr/>
          <p:nvPr/>
        </p:nvSpPr>
        <p:spPr>
          <a:xfrm>
            <a:off x="1852882" y="3022514"/>
            <a:ext cx="1248956" cy="27719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~0.70%</a:t>
            </a:r>
            <a:endParaRPr lang="en-US" sz="727" dirty="0"/>
          </a:p>
        </p:txBody>
      </p:sp>
      <p:sp>
        <p:nvSpPr>
          <p:cNvPr id="17" name="Text 14"/>
          <p:cNvSpPr/>
          <p:nvPr/>
        </p:nvSpPr>
        <p:spPr>
          <a:xfrm>
            <a:off x="3101839" y="3022514"/>
            <a:ext cx="1327286" cy="27719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~1.87%</a:t>
            </a:r>
            <a:endParaRPr lang="en-US" sz="727" dirty="0"/>
          </a:p>
        </p:txBody>
      </p:sp>
      <p:sp>
        <p:nvSpPr>
          <p:cNvPr id="18" name="Shape 15"/>
          <p:cNvSpPr/>
          <p:nvPr/>
        </p:nvSpPr>
        <p:spPr>
          <a:xfrm>
            <a:off x="428625" y="3443288"/>
            <a:ext cx="4000500" cy="1335881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9" name="Text 16"/>
          <p:cNvSpPr/>
          <p:nvPr/>
        </p:nvSpPr>
        <p:spPr>
          <a:xfrm>
            <a:off x="571500" y="3586163"/>
            <a:ext cx="37147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Finding</a:t>
            </a:r>
            <a:endParaRPr lang="en-US" sz="987" dirty="0"/>
          </a:p>
        </p:txBody>
      </p:sp>
      <p:sp>
        <p:nvSpPr>
          <p:cNvPr id="20" name="Text 17"/>
          <p:cNvSpPr/>
          <p:nvPr/>
        </p:nvSpPr>
        <p:spPr>
          <a:xfrm>
            <a:off x="571500" y="3929063"/>
            <a:ext cx="371475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CHGNet and MACE-MP-0 demonstrate exceptional structural accuracy, outperforming classical potentials by an order of magnitude.</a:t>
            </a:r>
            <a:endParaRPr lang="en-US" sz="942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2019" y="1357313"/>
            <a:ext cx="3986213" cy="32718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" y="0"/>
            <a:ext cx="9144000" cy="1071563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85750"/>
            <a:ext cx="914400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RESULTS: PER-MODEL LATTICE ACCURACY</a:t>
            </a:r>
            <a:endParaRPr lang="en-US" sz="1602" dirty="0"/>
          </a:p>
        </p:txBody>
      </p:sp>
      <p:sp>
        <p:nvSpPr>
          <p:cNvPr id="5" name="Shape 2"/>
          <p:cNvSpPr/>
          <p:nvPr/>
        </p:nvSpPr>
        <p:spPr>
          <a:xfrm>
            <a:off x="428625" y="1357313"/>
            <a:ext cx="4403145" cy="3486150"/>
          </a:xfrm>
          <a:prstGeom prst="rect">
            <a:avLst/>
          </a:prstGeom>
          <a:solidFill>
            <a:srgbClr val="FFFFFF"/>
          </a:solidFill>
          <a:ln w="27432">
            <a:solidFill>
              <a:srgbClr val="1C1917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059" y="1464469"/>
            <a:ext cx="4286250" cy="321468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046083" y="1357313"/>
            <a:ext cx="2055614" cy="282178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8" name="Text 4"/>
          <p:cNvSpPr/>
          <p:nvPr/>
        </p:nvSpPr>
        <p:spPr>
          <a:xfrm>
            <a:off x="5046083" y="1357313"/>
            <a:ext cx="2055614" cy="282178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STATISTICAL PERFORMANCE</a:t>
            </a:r>
            <a:endParaRPr lang="en-US" sz="784" dirty="0"/>
          </a:p>
        </p:txBody>
      </p:sp>
      <p:sp>
        <p:nvSpPr>
          <p:cNvPr id="9" name="Shape 5"/>
          <p:cNvSpPr/>
          <p:nvPr/>
        </p:nvSpPr>
        <p:spPr>
          <a:xfrm>
            <a:off x="5046083" y="1782366"/>
            <a:ext cx="1151902" cy="29289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0" name="Text 6"/>
          <p:cNvSpPr/>
          <p:nvPr/>
        </p:nvSpPr>
        <p:spPr>
          <a:xfrm>
            <a:off x="5046083" y="1782366"/>
            <a:ext cx="1151902" cy="29289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</a:t>
            </a:r>
            <a:endParaRPr lang="en-US" sz="683" dirty="0"/>
          </a:p>
        </p:txBody>
      </p:sp>
      <p:sp>
        <p:nvSpPr>
          <p:cNvPr id="11" name="Shape 7"/>
          <p:cNvSpPr/>
          <p:nvPr/>
        </p:nvSpPr>
        <p:spPr>
          <a:xfrm>
            <a:off x="6197984" y="1782366"/>
            <a:ext cx="885685" cy="29289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2" name="Text 8"/>
          <p:cNvSpPr/>
          <p:nvPr/>
        </p:nvSpPr>
        <p:spPr>
          <a:xfrm>
            <a:off x="6197984" y="1782366"/>
            <a:ext cx="885685" cy="29289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MAE (Å)</a:t>
            </a:r>
            <a:endParaRPr lang="en-US" sz="683" dirty="0"/>
          </a:p>
        </p:txBody>
      </p:sp>
      <p:sp>
        <p:nvSpPr>
          <p:cNvPr id="13" name="Shape 9"/>
          <p:cNvSpPr/>
          <p:nvPr/>
        </p:nvSpPr>
        <p:spPr>
          <a:xfrm>
            <a:off x="7083670" y="1782366"/>
            <a:ext cx="975289" cy="29289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4" name="Text 10"/>
          <p:cNvSpPr/>
          <p:nvPr/>
        </p:nvSpPr>
        <p:spPr>
          <a:xfrm>
            <a:off x="7083670" y="1782366"/>
            <a:ext cx="975289" cy="29289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RMSE (Å)</a:t>
            </a:r>
            <a:endParaRPr lang="en-US" sz="683" dirty="0"/>
          </a:p>
        </p:txBody>
      </p:sp>
      <p:sp>
        <p:nvSpPr>
          <p:cNvPr id="15" name="Shape 11"/>
          <p:cNvSpPr/>
          <p:nvPr/>
        </p:nvSpPr>
        <p:spPr>
          <a:xfrm>
            <a:off x="8058959" y="1782366"/>
            <a:ext cx="656416" cy="29289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6" name="Text 12"/>
          <p:cNvSpPr/>
          <p:nvPr/>
        </p:nvSpPr>
        <p:spPr>
          <a:xfrm>
            <a:off x="8058959" y="1782366"/>
            <a:ext cx="656416" cy="29289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R²</a:t>
            </a:r>
            <a:endParaRPr lang="en-US" sz="683" dirty="0"/>
          </a:p>
        </p:txBody>
      </p:sp>
      <p:sp>
        <p:nvSpPr>
          <p:cNvPr id="17" name="Text 13"/>
          <p:cNvSpPr/>
          <p:nvPr/>
        </p:nvSpPr>
        <p:spPr>
          <a:xfrm>
            <a:off x="5046083" y="2075259"/>
            <a:ext cx="1151902" cy="30003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F76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CHGNet</a:t>
            </a:r>
            <a:endParaRPr lang="en-US" sz="683" dirty="0"/>
          </a:p>
        </p:txBody>
      </p:sp>
      <p:sp>
        <p:nvSpPr>
          <p:cNvPr id="18" name="Text 14"/>
          <p:cNvSpPr/>
          <p:nvPr/>
        </p:nvSpPr>
        <p:spPr>
          <a:xfrm>
            <a:off x="6197984" y="2066741"/>
            <a:ext cx="885685" cy="31707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0.0049</a:t>
            </a:r>
            <a:endParaRPr lang="en-US" sz="727" dirty="0"/>
          </a:p>
        </p:txBody>
      </p:sp>
      <p:sp>
        <p:nvSpPr>
          <p:cNvPr id="19" name="Text 15"/>
          <p:cNvSpPr/>
          <p:nvPr/>
        </p:nvSpPr>
        <p:spPr>
          <a:xfrm>
            <a:off x="7083670" y="2066741"/>
            <a:ext cx="975289" cy="31707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0.0051</a:t>
            </a:r>
            <a:endParaRPr lang="en-US" sz="727" dirty="0"/>
          </a:p>
        </p:txBody>
      </p:sp>
      <p:sp>
        <p:nvSpPr>
          <p:cNvPr id="20" name="Text 16"/>
          <p:cNvSpPr/>
          <p:nvPr/>
        </p:nvSpPr>
        <p:spPr>
          <a:xfrm>
            <a:off x="8058959" y="2066741"/>
            <a:ext cx="656416" cy="31707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0.999</a:t>
            </a:r>
            <a:endParaRPr lang="en-US" sz="727" dirty="0"/>
          </a:p>
        </p:txBody>
      </p:sp>
      <p:sp>
        <p:nvSpPr>
          <p:cNvPr id="21" name="Text 17"/>
          <p:cNvSpPr/>
          <p:nvPr/>
        </p:nvSpPr>
        <p:spPr>
          <a:xfrm>
            <a:off x="5046083" y="2370351"/>
            <a:ext cx="1151902" cy="31707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MACE-MP-0</a:t>
            </a:r>
            <a:endParaRPr lang="en-US" sz="727" dirty="0"/>
          </a:p>
        </p:txBody>
      </p:sp>
      <p:sp>
        <p:nvSpPr>
          <p:cNvPr id="22" name="Text 18"/>
          <p:cNvSpPr/>
          <p:nvPr/>
        </p:nvSpPr>
        <p:spPr>
          <a:xfrm>
            <a:off x="6197984" y="2370351"/>
            <a:ext cx="885685" cy="31707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0.0097</a:t>
            </a:r>
            <a:endParaRPr lang="en-US" sz="727" dirty="0"/>
          </a:p>
        </p:txBody>
      </p:sp>
      <p:sp>
        <p:nvSpPr>
          <p:cNvPr id="23" name="Text 19"/>
          <p:cNvSpPr/>
          <p:nvPr/>
        </p:nvSpPr>
        <p:spPr>
          <a:xfrm>
            <a:off x="7083670" y="2370351"/>
            <a:ext cx="975289" cy="31707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0.0102</a:t>
            </a:r>
            <a:endParaRPr lang="en-US" sz="727" dirty="0"/>
          </a:p>
        </p:txBody>
      </p:sp>
      <p:sp>
        <p:nvSpPr>
          <p:cNvPr id="24" name="Text 20"/>
          <p:cNvSpPr/>
          <p:nvPr/>
        </p:nvSpPr>
        <p:spPr>
          <a:xfrm>
            <a:off x="8058959" y="2370351"/>
            <a:ext cx="656416" cy="31707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0.998</a:t>
            </a:r>
            <a:endParaRPr lang="en-US" sz="727" dirty="0"/>
          </a:p>
        </p:txBody>
      </p:sp>
      <p:sp>
        <p:nvSpPr>
          <p:cNvPr id="25" name="Text 21"/>
          <p:cNvSpPr/>
          <p:nvPr/>
        </p:nvSpPr>
        <p:spPr>
          <a:xfrm>
            <a:off x="5046083" y="2677532"/>
            <a:ext cx="1151902" cy="31707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DPA-3</a:t>
            </a:r>
            <a:endParaRPr lang="en-US" sz="727" dirty="0"/>
          </a:p>
        </p:txBody>
      </p:sp>
      <p:sp>
        <p:nvSpPr>
          <p:cNvPr id="26" name="Text 22"/>
          <p:cNvSpPr/>
          <p:nvPr/>
        </p:nvSpPr>
        <p:spPr>
          <a:xfrm>
            <a:off x="6197984" y="2677532"/>
            <a:ext cx="885685" cy="31707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0.0154</a:t>
            </a:r>
            <a:endParaRPr lang="en-US" sz="727" dirty="0"/>
          </a:p>
        </p:txBody>
      </p:sp>
      <p:sp>
        <p:nvSpPr>
          <p:cNvPr id="27" name="Text 23"/>
          <p:cNvSpPr/>
          <p:nvPr/>
        </p:nvSpPr>
        <p:spPr>
          <a:xfrm>
            <a:off x="7083670" y="2677532"/>
            <a:ext cx="975289" cy="31707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0.0155</a:t>
            </a:r>
            <a:endParaRPr lang="en-US" sz="727" dirty="0"/>
          </a:p>
        </p:txBody>
      </p:sp>
      <p:sp>
        <p:nvSpPr>
          <p:cNvPr id="28" name="Text 24"/>
          <p:cNvSpPr/>
          <p:nvPr/>
        </p:nvSpPr>
        <p:spPr>
          <a:xfrm>
            <a:off x="8058959" y="2677532"/>
            <a:ext cx="656416" cy="31707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0.996</a:t>
            </a:r>
            <a:endParaRPr lang="en-US" sz="727" dirty="0"/>
          </a:p>
        </p:txBody>
      </p:sp>
      <p:sp>
        <p:nvSpPr>
          <p:cNvPr id="29" name="Text 25"/>
          <p:cNvSpPr/>
          <p:nvPr/>
        </p:nvSpPr>
        <p:spPr>
          <a:xfrm>
            <a:off x="5046083" y="2984713"/>
            <a:ext cx="1151902" cy="31707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Tersoff</a:t>
            </a:r>
            <a:endParaRPr lang="en-US" sz="727" dirty="0"/>
          </a:p>
        </p:txBody>
      </p:sp>
      <p:sp>
        <p:nvSpPr>
          <p:cNvPr id="30" name="Text 26"/>
          <p:cNvSpPr/>
          <p:nvPr/>
        </p:nvSpPr>
        <p:spPr>
          <a:xfrm>
            <a:off x="6197984" y="2984713"/>
            <a:ext cx="885685" cy="31707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0.0689</a:t>
            </a:r>
            <a:endParaRPr lang="en-US" sz="727" dirty="0"/>
          </a:p>
        </p:txBody>
      </p:sp>
      <p:sp>
        <p:nvSpPr>
          <p:cNvPr id="31" name="Text 27"/>
          <p:cNvSpPr/>
          <p:nvPr/>
        </p:nvSpPr>
        <p:spPr>
          <a:xfrm>
            <a:off x="7083670" y="2984713"/>
            <a:ext cx="975289" cy="31707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0.0732</a:t>
            </a:r>
            <a:endParaRPr lang="en-US" sz="727" dirty="0"/>
          </a:p>
        </p:txBody>
      </p:sp>
      <p:sp>
        <p:nvSpPr>
          <p:cNvPr id="32" name="Text 28"/>
          <p:cNvSpPr/>
          <p:nvPr/>
        </p:nvSpPr>
        <p:spPr>
          <a:xfrm>
            <a:off x="8058959" y="2984713"/>
            <a:ext cx="656416" cy="31707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0.912</a:t>
            </a:r>
            <a:endParaRPr lang="en-US" sz="727" dirty="0"/>
          </a:p>
        </p:txBody>
      </p:sp>
      <p:sp>
        <p:nvSpPr>
          <p:cNvPr id="33" name="Text 29"/>
          <p:cNvSpPr/>
          <p:nvPr/>
        </p:nvSpPr>
        <p:spPr>
          <a:xfrm>
            <a:off x="5046083" y="3291895"/>
            <a:ext cx="1151902" cy="31707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SW</a:t>
            </a:r>
            <a:endParaRPr lang="en-US" sz="727" dirty="0"/>
          </a:p>
        </p:txBody>
      </p:sp>
      <p:sp>
        <p:nvSpPr>
          <p:cNvPr id="34" name="Text 30"/>
          <p:cNvSpPr/>
          <p:nvPr/>
        </p:nvSpPr>
        <p:spPr>
          <a:xfrm>
            <a:off x="6197984" y="3291895"/>
            <a:ext cx="885685" cy="31707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0.0708</a:t>
            </a:r>
            <a:endParaRPr lang="en-US" sz="727" dirty="0"/>
          </a:p>
        </p:txBody>
      </p:sp>
      <p:sp>
        <p:nvSpPr>
          <p:cNvPr id="35" name="Text 31"/>
          <p:cNvSpPr/>
          <p:nvPr/>
        </p:nvSpPr>
        <p:spPr>
          <a:xfrm>
            <a:off x="7083670" y="3291895"/>
            <a:ext cx="975289" cy="31707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0.0751</a:t>
            </a:r>
            <a:endParaRPr lang="en-US" sz="727" dirty="0"/>
          </a:p>
        </p:txBody>
      </p:sp>
      <p:sp>
        <p:nvSpPr>
          <p:cNvPr id="36" name="Text 32"/>
          <p:cNvSpPr/>
          <p:nvPr/>
        </p:nvSpPr>
        <p:spPr>
          <a:xfrm>
            <a:off x="8058959" y="3291895"/>
            <a:ext cx="656416" cy="31707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0.908</a:t>
            </a:r>
            <a:endParaRPr lang="en-US" sz="727" dirty="0"/>
          </a:p>
        </p:txBody>
      </p:sp>
      <p:sp>
        <p:nvSpPr>
          <p:cNvPr id="37" name="Text 33"/>
          <p:cNvSpPr/>
          <p:nvPr/>
        </p:nvSpPr>
        <p:spPr>
          <a:xfrm>
            <a:off x="5046083" y="3599076"/>
            <a:ext cx="1151902" cy="31707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DeepMD</a:t>
            </a:r>
            <a:endParaRPr lang="en-US" sz="727" dirty="0"/>
          </a:p>
        </p:txBody>
      </p:sp>
      <p:sp>
        <p:nvSpPr>
          <p:cNvPr id="38" name="Text 34"/>
          <p:cNvSpPr/>
          <p:nvPr/>
        </p:nvSpPr>
        <p:spPr>
          <a:xfrm>
            <a:off x="6197984" y="3599076"/>
            <a:ext cx="885685" cy="31707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0.1214</a:t>
            </a:r>
            <a:endParaRPr lang="en-US" sz="727" dirty="0"/>
          </a:p>
        </p:txBody>
      </p:sp>
      <p:sp>
        <p:nvSpPr>
          <p:cNvPr id="39" name="Text 35"/>
          <p:cNvSpPr/>
          <p:nvPr/>
        </p:nvSpPr>
        <p:spPr>
          <a:xfrm>
            <a:off x="7083670" y="3599076"/>
            <a:ext cx="975289" cy="31707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0.1342</a:t>
            </a:r>
            <a:endParaRPr lang="en-US" sz="727" dirty="0"/>
          </a:p>
        </p:txBody>
      </p:sp>
      <p:sp>
        <p:nvSpPr>
          <p:cNvPr id="40" name="Text 36"/>
          <p:cNvSpPr/>
          <p:nvPr/>
        </p:nvSpPr>
        <p:spPr>
          <a:xfrm>
            <a:off x="8058959" y="3599076"/>
            <a:ext cx="656416" cy="31707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0.795</a:t>
            </a:r>
            <a:endParaRPr lang="en-US" sz="72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85813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85750"/>
            <a:ext cx="8715375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RESULTS: COHESIVE ENERGY PREDICTIONS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428625" y="1200150"/>
            <a:ext cx="4000500" cy="3680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MACE-MP-0 demonstrates superior accuracy for cohesive energy, achieving errors as low as 1.6% for Silicon and 2.0% for Germanium.</a:t>
            </a:r>
            <a:endParaRPr lang="en-US" sz="942" dirty="0"/>
          </a:p>
        </p:txBody>
      </p:sp>
      <p:sp>
        <p:nvSpPr>
          <p:cNvPr id="6" name="Shape 3"/>
          <p:cNvSpPr/>
          <p:nvPr/>
        </p:nvSpPr>
        <p:spPr>
          <a:xfrm>
            <a:off x="428625" y="1921669"/>
            <a:ext cx="1587754" cy="292894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7" name="Text 4"/>
          <p:cNvSpPr/>
          <p:nvPr/>
        </p:nvSpPr>
        <p:spPr>
          <a:xfrm>
            <a:off x="428625" y="1921669"/>
            <a:ext cx="1587754" cy="292894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</a:t>
            </a:r>
            <a:endParaRPr lang="en-US" sz="683" dirty="0"/>
          </a:p>
        </p:txBody>
      </p:sp>
      <p:sp>
        <p:nvSpPr>
          <p:cNvPr id="8" name="Shape 5"/>
          <p:cNvSpPr/>
          <p:nvPr/>
        </p:nvSpPr>
        <p:spPr>
          <a:xfrm>
            <a:off x="2016379" y="1921669"/>
            <a:ext cx="1165436" cy="292894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9" name="Text 6"/>
          <p:cNvSpPr/>
          <p:nvPr/>
        </p:nvSpPr>
        <p:spPr>
          <a:xfrm>
            <a:off x="2016379" y="1921669"/>
            <a:ext cx="1165436" cy="292894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 (eV/at)</a:t>
            </a:r>
            <a:endParaRPr lang="en-US" sz="683" dirty="0"/>
          </a:p>
        </p:txBody>
      </p:sp>
      <p:sp>
        <p:nvSpPr>
          <p:cNvPr id="10" name="Shape 7"/>
          <p:cNvSpPr/>
          <p:nvPr/>
        </p:nvSpPr>
        <p:spPr>
          <a:xfrm>
            <a:off x="3181815" y="1921669"/>
            <a:ext cx="1247310" cy="292894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11" name="Text 8"/>
          <p:cNvSpPr/>
          <p:nvPr/>
        </p:nvSpPr>
        <p:spPr>
          <a:xfrm>
            <a:off x="3181815" y="1921669"/>
            <a:ext cx="1247310" cy="292894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 (eV/at)</a:t>
            </a:r>
            <a:endParaRPr lang="en-US" sz="683" dirty="0"/>
          </a:p>
        </p:txBody>
      </p:sp>
      <p:sp>
        <p:nvSpPr>
          <p:cNvPr id="12" name="Text 9"/>
          <p:cNvSpPr/>
          <p:nvPr/>
        </p:nvSpPr>
        <p:spPr>
          <a:xfrm>
            <a:off x="428625" y="2208802"/>
            <a:ext cx="1587754" cy="31156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DFT Reference</a:t>
            </a:r>
            <a:endParaRPr lang="en-US" sz="727" dirty="0"/>
          </a:p>
        </p:txBody>
      </p:sp>
      <p:sp>
        <p:nvSpPr>
          <p:cNvPr id="13" name="Text 10"/>
          <p:cNvSpPr/>
          <p:nvPr/>
        </p:nvSpPr>
        <p:spPr>
          <a:xfrm>
            <a:off x="2016379" y="2208802"/>
            <a:ext cx="1165436" cy="31156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-5.430</a:t>
            </a:r>
            <a:endParaRPr lang="en-US" sz="727" dirty="0"/>
          </a:p>
        </p:txBody>
      </p:sp>
      <p:sp>
        <p:nvSpPr>
          <p:cNvPr id="14" name="Text 11"/>
          <p:cNvSpPr/>
          <p:nvPr/>
        </p:nvSpPr>
        <p:spPr>
          <a:xfrm>
            <a:off x="3181815" y="2208802"/>
            <a:ext cx="1247310" cy="31156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-4.620</a:t>
            </a:r>
            <a:endParaRPr lang="en-US" sz="727" dirty="0"/>
          </a:p>
        </p:txBody>
      </p:sp>
      <p:sp>
        <p:nvSpPr>
          <p:cNvPr id="15" name="Text 12"/>
          <p:cNvSpPr/>
          <p:nvPr/>
        </p:nvSpPr>
        <p:spPr>
          <a:xfrm>
            <a:off x="428625" y="2512411"/>
            <a:ext cx="1587754" cy="31156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MACE-MP-0</a:t>
            </a:r>
            <a:endParaRPr lang="en-US" sz="727" dirty="0"/>
          </a:p>
        </p:txBody>
      </p:sp>
      <p:sp>
        <p:nvSpPr>
          <p:cNvPr id="16" name="Text 13"/>
          <p:cNvSpPr/>
          <p:nvPr/>
        </p:nvSpPr>
        <p:spPr>
          <a:xfrm>
            <a:off x="2016379" y="2512411"/>
            <a:ext cx="1165436" cy="31156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-5.342</a:t>
            </a:r>
            <a:endParaRPr lang="en-US" sz="727" dirty="0"/>
          </a:p>
        </p:txBody>
      </p:sp>
      <p:sp>
        <p:nvSpPr>
          <p:cNvPr id="17" name="Text 14"/>
          <p:cNvSpPr/>
          <p:nvPr/>
        </p:nvSpPr>
        <p:spPr>
          <a:xfrm>
            <a:off x="3181815" y="2512411"/>
            <a:ext cx="1247310" cy="31156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-4.526</a:t>
            </a:r>
            <a:endParaRPr lang="en-US" sz="727" dirty="0"/>
          </a:p>
        </p:txBody>
      </p:sp>
      <p:sp>
        <p:nvSpPr>
          <p:cNvPr id="18" name="Text 15"/>
          <p:cNvSpPr/>
          <p:nvPr/>
        </p:nvSpPr>
        <p:spPr>
          <a:xfrm>
            <a:off x="428625" y="2819592"/>
            <a:ext cx="1587754" cy="31156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Tersoff</a:t>
            </a:r>
            <a:endParaRPr lang="en-US" sz="727" dirty="0"/>
          </a:p>
        </p:txBody>
      </p:sp>
      <p:sp>
        <p:nvSpPr>
          <p:cNvPr id="19" name="Text 16"/>
          <p:cNvSpPr/>
          <p:nvPr/>
        </p:nvSpPr>
        <p:spPr>
          <a:xfrm>
            <a:off x="2016379" y="2819592"/>
            <a:ext cx="1165436" cy="31156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-4.630</a:t>
            </a:r>
            <a:endParaRPr lang="en-US" sz="727" dirty="0"/>
          </a:p>
        </p:txBody>
      </p:sp>
      <p:sp>
        <p:nvSpPr>
          <p:cNvPr id="20" name="Text 17"/>
          <p:cNvSpPr/>
          <p:nvPr/>
        </p:nvSpPr>
        <p:spPr>
          <a:xfrm>
            <a:off x="3181815" y="2819592"/>
            <a:ext cx="1247310" cy="31156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-3.851</a:t>
            </a:r>
            <a:endParaRPr lang="en-US" sz="727" dirty="0"/>
          </a:p>
        </p:txBody>
      </p:sp>
      <p:sp>
        <p:nvSpPr>
          <p:cNvPr id="21" name="Shape 18"/>
          <p:cNvSpPr/>
          <p:nvPr/>
        </p:nvSpPr>
        <p:spPr>
          <a:xfrm>
            <a:off x="428625" y="3305873"/>
            <a:ext cx="4000500" cy="385763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2" name="Text 19"/>
          <p:cNvSpPr/>
          <p:nvPr/>
        </p:nvSpPr>
        <p:spPr>
          <a:xfrm>
            <a:off x="428625" y="3278981"/>
            <a:ext cx="4000500" cy="38576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CLASSICAL POTENTIALS UNDERPREDICT ENERGY BY 14-20%.</a:t>
            </a:r>
            <a:endParaRPr lang="en-US" sz="784" dirty="0"/>
          </a:p>
        </p:txBody>
      </p:sp>
      <p:sp>
        <p:nvSpPr>
          <p:cNvPr id="23" name="Text 20"/>
          <p:cNvSpPr/>
          <p:nvPr/>
        </p:nvSpPr>
        <p:spPr>
          <a:xfrm>
            <a:off x="428625" y="3764756"/>
            <a:ext cx="4000500" cy="257175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5753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*DPA-3 excluded due to atomic reference differences (~ -107 eV/atom).</a:t>
            </a:r>
            <a:endParaRPr lang="en-US" sz="727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2019" y="1071563"/>
            <a:ext cx="3986213" cy="32718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" y="0"/>
            <a:ext cx="9144000" cy="1071563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85750"/>
            <a:ext cx="914400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RESULTS: EQUATION OF STATE (EOS)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428625" y="1304735"/>
            <a:ext cx="3214688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Equation of State (EOS) curves describe the energy response to volume changes, critical for predicting mechanical properties.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714375" y="2076193"/>
            <a:ext cx="2928938" cy="617153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Pre-trained MLIPs: Produce smooth, symmetric parabolic wells centered near the DFT lattice constant.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714375" y="2779071"/>
            <a:ext cx="2928938" cy="617153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DeepMD: Exhibits an asymmetric well for Si and an anomalous 8 eV/atom spike under high compression.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714375" y="3481949"/>
            <a:ext cx="2928938" cy="617153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Classical: Tersoff and SW show broader, shallower wells compared to the DFT reference.</a:t>
            </a:r>
            <a:endParaRPr lang="en-US" sz="942" dirty="0"/>
          </a:p>
        </p:txBody>
      </p:sp>
      <p:sp>
        <p:nvSpPr>
          <p:cNvPr id="9" name="Shape 6"/>
          <p:cNvSpPr/>
          <p:nvPr/>
        </p:nvSpPr>
        <p:spPr>
          <a:xfrm>
            <a:off x="428625" y="4255121"/>
            <a:ext cx="3214688" cy="537177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10" name="Text 7"/>
          <p:cNvSpPr/>
          <p:nvPr/>
        </p:nvSpPr>
        <p:spPr>
          <a:xfrm>
            <a:off x="428625" y="4245977"/>
            <a:ext cx="3214688" cy="53717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MLIPS CAPTURE THE CURVATURE OF THE PES WITH SUPERIOR FIDELITY.</a:t>
            </a:r>
            <a:endParaRPr lang="en-US" sz="784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4775" y="1285875"/>
            <a:ext cx="4700588" cy="30575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572625" cy="1071563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85750"/>
            <a:ext cx="914400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RESULTS: WIDE-RANGE ENERGY-STRAIN CURVES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428625" y="1485900"/>
            <a:ext cx="3214688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analysis examines the energy behavior over a broad range of lattice constants, spanning </a:t>
            </a:r>
            <a:r>
              <a:rPr lang="en-US" sz="885" b="1" dirty="0">
                <a:solidFill>
                  <a:srgbClr val="0F76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85% to 115%</a:t>
            </a:r>
            <a:r>
              <a:rPr lang="en-US" sz="942" dirty="0">
                <a:solidFill>
                  <a:srgbClr val="5753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942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 the experimental value.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428625" y="2231641"/>
            <a:ext cx="3214688" cy="965746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While classical potentials often struggle with extreme deformations, </a:t>
            </a:r>
            <a:r>
              <a:rPr lang="en-US" sz="885" b="1" dirty="0">
                <a:solidFill>
                  <a:srgbClr val="C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MLIPs</a:t>
            </a:r>
            <a:r>
              <a:rPr lang="en-US" sz="942" dirty="0">
                <a:solidFill>
                  <a:srgbClr val="C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942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demonstrate remarkable stability and physical consistency across the entire strain range.</a:t>
            </a:r>
            <a:endParaRPr lang="en-US" sz="942" dirty="0"/>
          </a:p>
        </p:txBody>
      </p:sp>
      <p:sp>
        <p:nvSpPr>
          <p:cNvPr id="7" name="Shape 4"/>
          <p:cNvSpPr/>
          <p:nvPr/>
        </p:nvSpPr>
        <p:spPr>
          <a:xfrm>
            <a:off x="428625" y="3411699"/>
            <a:ext cx="3214688" cy="902903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8" name="Shape 5"/>
          <p:cNvSpPr/>
          <p:nvPr/>
        </p:nvSpPr>
        <p:spPr>
          <a:xfrm>
            <a:off x="428625" y="3411699"/>
            <a:ext cx="71438" cy="902903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9" name="Text 6"/>
          <p:cNvSpPr/>
          <p:nvPr/>
        </p:nvSpPr>
        <p:spPr>
          <a:xfrm>
            <a:off x="428625" y="3411699"/>
            <a:ext cx="3214688" cy="902903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MLIPS MAINTAIN STRUCTURAL INTEGRITY EVEN UNDER HIGH COMPRESSION AND EXPANSION.</a:t>
            </a:r>
            <a:endParaRPr lang="en-US" sz="885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9063" y="1357313"/>
            <a:ext cx="4914900" cy="32718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22874" y="4700588"/>
            <a:ext cx="3927277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i="1" dirty="0">
                <a:solidFill>
                  <a:srgbClr val="5753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Fig 4: Energy-strain curves for Si and Ge across a wide range of lattice constants.</a:t>
            </a:r>
            <a:endParaRPr lang="en-US" sz="727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82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85813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85750"/>
            <a:ext cx="8715375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RESULTS: FORCE STABILITY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428625" y="1200150"/>
            <a:ext cx="4000500" cy="3904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Force stability is measured by the mean maximum atomic force magnitude over 30 random displacements.</a:t>
            </a:r>
            <a:endParaRPr lang="en-US" sz="942" dirty="0"/>
          </a:p>
        </p:txBody>
      </p:sp>
      <p:sp>
        <p:nvSpPr>
          <p:cNvPr id="6" name="Shape 3"/>
          <p:cNvSpPr/>
          <p:nvPr/>
        </p:nvSpPr>
        <p:spPr>
          <a:xfrm>
            <a:off x="428625" y="1754460"/>
            <a:ext cx="4000500" cy="32573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4"/>
          <p:cNvSpPr/>
          <p:nvPr/>
        </p:nvSpPr>
        <p:spPr>
          <a:xfrm>
            <a:off x="428625" y="1754460"/>
            <a:ext cx="35719" cy="325738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8" name="Text 5"/>
          <p:cNvSpPr/>
          <p:nvPr/>
        </p:nvSpPr>
        <p:spPr>
          <a:xfrm>
            <a:off x="428625" y="1754460"/>
            <a:ext cx="4000500" cy="334387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C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MLIPs: &lt; 2.3 eV/Å (Smoother landscapes)</a:t>
            </a:r>
            <a:endParaRPr lang="en-US" sz="834" dirty="0">
              <a:solidFill>
                <a:srgbClr val="C00000"/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428625" y="2151636"/>
            <a:ext cx="4000500" cy="32573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Shape 7"/>
          <p:cNvSpPr/>
          <p:nvPr/>
        </p:nvSpPr>
        <p:spPr>
          <a:xfrm>
            <a:off x="428625" y="2151636"/>
            <a:ext cx="35719" cy="325738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11" name="Text 8"/>
          <p:cNvSpPr/>
          <p:nvPr/>
        </p:nvSpPr>
        <p:spPr>
          <a:xfrm>
            <a:off x="428625" y="2151636"/>
            <a:ext cx="4000500" cy="334387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C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DeepMD: 1.69 eV/Å (Si), 1.12 eV/Å (Ge)</a:t>
            </a:r>
            <a:endParaRPr lang="en-US" sz="834" dirty="0">
              <a:solidFill>
                <a:srgbClr val="C00000"/>
              </a:solidFill>
            </a:endParaRPr>
          </a:p>
        </p:txBody>
      </p:sp>
      <p:sp>
        <p:nvSpPr>
          <p:cNvPr id="12" name="Shape 9"/>
          <p:cNvSpPr/>
          <p:nvPr/>
        </p:nvSpPr>
        <p:spPr>
          <a:xfrm>
            <a:off x="428625" y="2548812"/>
            <a:ext cx="4000500" cy="32573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3" name="Shape 10"/>
          <p:cNvSpPr/>
          <p:nvPr/>
        </p:nvSpPr>
        <p:spPr>
          <a:xfrm>
            <a:off x="428625" y="2548812"/>
            <a:ext cx="35719" cy="325738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14" name="Text 11"/>
          <p:cNvSpPr/>
          <p:nvPr/>
        </p:nvSpPr>
        <p:spPr>
          <a:xfrm>
            <a:off x="428625" y="2548812"/>
            <a:ext cx="4000500" cy="334387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C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Classical: 2-3x higher force magnitudes</a:t>
            </a:r>
            <a:endParaRPr lang="en-US" sz="834" dirty="0">
              <a:solidFill>
                <a:srgbClr val="C00000"/>
              </a:solidFill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28625" y="3088863"/>
            <a:ext cx="4000500" cy="902903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6" name="Shape 13"/>
          <p:cNvSpPr/>
          <p:nvPr/>
        </p:nvSpPr>
        <p:spPr>
          <a:xfrm>
            <a:off x="428625" y="3088863"/>
            <a:ext cx="71438" cy="902903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17" name="Text 14"/>
          <p:cNvSpPr/>
          <p:nvPr/>
        </p:nvSpPr>
        <p:spPr>
          <a:xfrm>
            <a:off x="428625" y="3088863"/>
            <a:ext cx="4000500" cy="902903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NEURAL NETWORK POTENTIALS PRODUCE SIGNIFICANTLY SMOOTHER FORCE LANDSCAPES, ESSENTIAL FOR STABLE MD.</a:t>
            </a:r>
            <a:endParaRPr lang="en-US" sz="885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2019" y="1071563"/>
            <a:ext cx="3986213" cy="327183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85813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85750"/>
            <a:ext cx="8715375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DEEPMD OPTIMIZATION: OPTUNA HPO</a:t>
            </a:r>
            <a:endParaRPr lang="en-US" sz="1602" dirty="0"/>
          </a:p>
        </p:txBody>
      </p:sp>
      <p:sp>
        <p:nvSpPr>
          <p:cNvPr id="5" name="Shape 2"/>
          <p:cNvSpPr/>
          <p:nvPr/>
        </p:nvSpPr>
        <p:spPr>
          <a:xfrm>
            <a:off x="428625" y="1071563"/>
            <a:ext cx="2498527" cy="282178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6" name="Text 3"/>
          <p:cNvSpPr/>
          <p:nvPr/>
        </p:nvSpPr>
        <p:spPr>
          <a:xfrm>
            <a:off x="428625" y="1071563"/>
            <a:ext cx="2498527" cy="282178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BEST HYPERPARAMETERS (TRIAL 4)</a:t>
            </a:r>
            <a:endParaRPr lang="en-US" sz="784" dirty="0"/>
          </a:p>
        </p:txBody>
      </p:sp>
      <p:sp>
        <p:nvSpPr>
          <p:cNvPr id="7" name="Shape 4"/>
          <p:cNvSpPr/>
          <p:nvPr/>
        </p:nvSpPr>
        <p:spPr>
          <a:xfrm>
            <a:off x="428625" y="1496616"/>
            <a:ext cx="2805066" cy="310753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8" name="Text 5"/>
          <p:cNvSpPr/>
          <p:nvPr/>
        </p:nvSpPr>
        <p:spPr>
          <a:xfrm>
            <a:off x="428625" y="1496616"/>
            <a:ext cx="2805066" cy="31075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PARAMETER</a:t>
            </a:r>
            <a:endParaRPr lang="en-US" sz="784" dirty="0"/>
          </a:p>
        </p:txBody>
      </p:sp>
      <p:sp>
        <p:nvSpPr>
          <p:cNvPr id="9" name="Shape 6"/>
          <p:cNvSpPr/>
          <p:nvPr/>
        </p:nvSpPr>
        <p:spPr>
          <a:xfrm>
            <a:off x="3233691" y="1496616"/>
            <a:ext cx="1195434" cy="310753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0" name="Text 7"/>
          <p:cNvSpPr/>
          <p:nvPr/>
        </p:nvSpPr>
        <p:spPr>
          <a:xfrm>
            <a:off x="3233691" y="1496616"/>
            <a:ext cx="1195434" cy="31075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VALUE</a:t>
            </a:r>
            <a:endParaRPr lang="en-US" sz="784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 8"/>
              <p:cNvSpPr/>
              <p:nvPr/>
            </p:nvSpPr>
            <p:spPr>
              <a:xfrm>
                <a:off x="428625" y="1792776"/>
                <a:ext cx="2805066" cy="347083"/>
              </a:xfrm>
              <a:prstGeom prst="rect">
                <a:avLst/>
              </a:prstGeom>
              <a:noFill/>
              <a:ln/>
            </p:spPr>
            <p:txBody>
              <a:bodyPr wrap="square" lIns="102108" tIns="102108" rIns="102108" bIns="102108" rtlCol="0" anchor="ctr">
                <a:spAutoFit/>
              </a:bodyPr>
              <a:lstStyle/>
              <a:p>
                <a:r>
                  <a:rPr lang="en-US" sz="834" dirty="0">
                    <a:solidFill>
                      <a:srgbClr val="C00000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Cutoff Radius </a:t>
                </a:r>
                <a:r>
                  <a:rPr lang="en-US" sz="834" dirty="0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34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834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834" i="0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cut</m:t>
                        </m:r>
                      </m:sub>
                    </m:sSub>
                  </m:oMath>
                </a14:m>
                <a:r>
                  <a:rPr lang="en-US" sz="834" dirty="0">
                    <a:solidFill>
                      <a:srgbClr val="C00000"/>
                    </a:solidFill>
                  </a:rPr>
                  <a:t>)</a:t>
                </a:r>
              </a:p>
            </p:txBody>
          </p:sp>
        </mc:Choice>
        <mc:Fallback>
          <p:sp>
            <p:nvSpPr>
              <p:cNvPr id="11" name="Tex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625" y="1792776"/>
                <a:ext cx="2805066" cy="3470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9"/>
          <p:cNvSpPr/>
          <p:nvPr/>
        </p:nvSpPr>
        <p:spPr>
          <a:xfrm>
            <a:off x="3233691" y="1807369"/>
            <a:ext cx="1195434" cy="31789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C19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6.0 Å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428625" y="2117836"/>
            <a:ext cx="2805066" cy="33990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C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Descriptor Neurons</a:t>
            </a:r>
            <a:endParaRPr lang="en-US" sz="834" dirty="0">
              <a:solidFill>
                <a:srgbClr val="C00000"/>
              </a:solidFill>
            </a:endParaRPr>
          </a:p>
        </p:txBody>
      </p:sp>
      <p:sp>
        <p:nvSpPr>
          <p:cNvPr id="14" name="Text 11"/>
          <p:cNvSpPr/>
          <p:nvPr/>
        </p:nvSpPr>
        <p:spPr>
          <a:xfrm>
            <a:off x="3233691" y="2125266"/>
            <a:ext cx="1195434" cy="32504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C19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[25, 50, 100]</a:t>
            </a:r>
            <a:endParaRPr lang="en-US" sz="784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 12"/>
              <p:cNvSpPr/>
              <p:nvPr/>
            </p:nvSpPr>
            <p:spPr>
              <a:xfrm>
                <a:off x="428625" y="2453573"/>
                <a:ext cx="2805066" cy="334579"/>
              </a:xfrm>
              <a:prstGeom prst="rect">
                <a:avLst/>
              </a:prstGeom>
              <a:noFill/>
              <a:ln/>
            </p:spPr>
            <p:txBody>
              <a:bodyPr wrap="square" lIns="102108" tIns="102108" rIns="102108" bIns="102108" rtlCol="0" anchor="ctr">
                <a:spAutoFit/>
              </a:bodyPr>
              <a:lstStyle/>
              <a:p>
                <a:r>
                  <a:rPr lang="en-US" sz="834" dirty="0">
                    <a:solidFill>
                      <a:srgbClr val="C00000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Initial Learning Rate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34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834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sz="834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834" dirty="0">
                    <a:solidFill>
                      <a:srgbClr val="C00000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)</a:t>
                </a:r>
                <a:endParaRPr lang="en-US" sz="834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15" name="Text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625" y="2453573"/>
                <a:ext cx="2805066" cy="33457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 13"/>
          <p:cNvSpPr/>
          <p:nvPr/>
        </p:nvSpPr>
        <p:spPr>
          <a:xfrm>
            <a:off x="3233691" y="2450306"/>
            <a:ext cx="1195434" cy="34111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C19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3.34 × 10⁻³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428625" y="2783990"/>
            <a:ext cx="2805066" cy="33990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C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 Training Steps</a:t>
            </a:r>
            <a:endParaRPr lang="en-US" sz="834" dirty="0">
              <a:solidFill>
                <a:srgbClr val="C00000"/>
              </a:solidFill>
            </a:endParaRPr>
          </a:p>
        </p:txBody>
      </p:sp>
      <p:sp>
        <p:nvSpPr>
          <p:cNvPr id="18" name="Text 15"/>
          <p:cNvSpPr/>
          <p:nvPr/>
        </p:nvSpPr>
        <p:spPr>
          <a:xfrm>
            <a:off x="3233691" y="2791420"/>
            <a:ext cx="1195434" cy="32504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C19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5000</a:t>
            </a:r>
            <a:endParaRPr lang="en-US" sz="784" dirty="0"/>
          </a:p>
        </p:txBody>
      </p:sp>
      <p:sp>
        <p:nvSpPr>
          <p:cNvPr id="19" name="Text 16"/>
          <p:cNvSpPr/>
          <p:nvPr/>
        </p:nvSpPr>
        <p:spPr>
          <a:xfrm>
            <a:off x="514350" y="3209330"/>
            <a:ext cx="841177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5753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Final RMSE(F)</a:t>
            </a:r>
            <a:endParaRPr lang="en-US" sz="784" dirty="0"/>
          </a:p>
        </p:txBody>
      </p:sp>
      <p:sp>
        <p:nvSpPr>
          <p:cNvPr id="20" name="Text 17"/>
          <p:cNvSpPr/>
          <p:nvPr/>
        </p:nvSpPr>
        <p:spPr>
          <a:xfrm>
            <a:off x="3319416" y="3209330"/>
            <a:ext cx="73044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C19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0.0632 eV/Å</a:t>
            </a:r>
            <a:endParaRPr lang="en-US" sz="784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2019" y="1071563"/>
            <a:ext cx="3986213" cy="327183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85813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85750"/>
            <a:ext cx="8715375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SUMMARY DASHBOARD: PERFORMANCE OVERVIEW</a:t>
            </a:r>
            <a:endParaRPr lang="en-US" sz="1602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363" y="1000125"/>
            <a:ext cx="7915275" cy="291465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28625" y="4129088"/>
            <a:ext cx="2666991" cy="39290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7" name="Shape 3"/>
          <p:cNvSpPr/>
          <p:nvPr/>
        </p:nvSpPr>
        <p:spPr>
          <a:xfrm>
            <a:off x="428625" y="4129088"/>
            <a:ext cx="2666991" cy="57150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8" name="Text 4"/>
          <p:cNvSpPr/>
          <p:nvPr/>
        </p:nvSpPr>
        <p:spPr>
          <a:xfrm>
            <a:off x="428625" y="4129088"/>
            <a:ext cx="2666991" cy="39290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LATTICE PARITY: MLIPS &gt; 99% ACCURACY</a:t>
            </a:r>
            <a:endParaRPr lang="en-US" sz="683" dirty="0"/>
          </a:p>
        </p:txBody>
      </p:sp>
      <p:sp>
        <p:nvSpPr>
          <p:cNvPr id="9" name="Shape 5"/>
          <p:cNvSpPr/>
          <p:nvPr/>
        </p:nvSpPr>
        <p:spPr>
          <a:xfrm>
            <a:off x="3238491" y="4129088"/>
            <a:ext cx="2666991" cy="39290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0" name="Shape 6"/>
          <p:cNvSpPr/>
          <p:nvPr/>
        </p:nvSpPr>
        <p:spPr>
          <a:xfrm>
            <a:off x="3238491" y="4129088"/>
            <a:ext cx="2666991" cy="57150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11" name="Text 7"/>
          <p:cNvSpPr/>
          <p:nvPr/>
        </p:nvSpPr>
        <p:spPr>
          <a:xfrm>
            <a:off x="3238491" y="4129088"/>
            <a:ext cx="2666991" cy="39290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ENERGY PARITY: MACE-MP-0 LEADS</a:t>
            </a:r>
            <a:endParaRPr lang="en-US" sz="683" dirty="0"/>
          </a:p>
        </p:txBody>
      </p:sp>
      <p:sp>
        <p:nvSpPr>
          <p:cNvPr id="12" name="Shape 8"/>
          <p:cNvSpPr/>
          <p:nvPr/>
        </p:nvSpPr>
        <p:spPr>
          <a:xfrm>
            <a:off x="6048356" y="4129088"/>
            <a:ext cx="2667019" cy="39290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3" name="Shape 9"/>
          <p:cNvSpPr/>
          <p:nvPr/>
        </p:nvSpPr>
        <p:spPr>
          <a:xfrm>
            <a:off x="6048356" y="4129088"/>
            <a:ext cx="2667019" cy="57150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14" name="Text 10"/>
          <p:cNvSpPr/>
          <p:nvPr/>
        </p:nvSpPr>
        <p:spPr>
          <a:xfrm>
            <a:off x="6048356" y="4129088"/>
            <a:ext cx="2667019" cy="39290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FORCE STABILITY: 3X SMOOTHER PES</a:t>
            </a:r>
            <a:endParaRPr lang="en-US" sz="683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85813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85750"/>
            <a:ext cx="8715375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DISCUSSION, RANKING, AND CONCLUSION</a:t>
            </a:r>
            <a:endParaRPr lang="en-US" sz="1602" dirty="0"/>
          </a:p>
        </p:txBody>
      </p:sp>
      <p:sp>
        <p:nvSpPr>
          <p:cNvPr id="5" name="Shape 2"/>
          <p:cNvSpPr/>
          <p:nvPr/>
        </p:nvSpPr>
        <p:spPr>
          <a:xfrm>
            <a:off x="428625" y="1000125"/>
            <a:ext cx="811290" cy="29289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" name="Text 3"/>
          <p:cNvSpPr/>
          <p:nvPr/>
        </p:nvSpPr>
        <p:spPr>
          <a:xfrm>
            <a:off x="428625" y="1000125"/>
            <a:ext cx="811290" cy="29289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RANK</a:t>
            </a:r>
            <a:endParaRPr lang="en-US" sz="683" dirty="0"/>
          </a:p>
        </p:txBody>
      </p:sp>
      <p:sp>
        <p:nvSpPr>
          <p:cNvPr id="7" name="Shape 4"/>
          <p:cNvSpPr/>
          <p:nvPr/>
        </p:nvSpPr>
        <p:spPr>
          <a:xfrm>
            <a:off x="1239915" y="1000125"/>
            <a:ext cx="1670521" cy="29289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8" name="Text 5"/>
          <p:cNvSpPr/>
          <p:nvPr/>
        </p:nvSpPr>
        <p:spPr>
          <a:xfrm>
            <a:off x="1239915" y="1000125"/>
            <a:ext cx="1670521" cy="29289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</a:t>
            </a:r>
            <a:endParaRPr lang="en-US" sz="683" dirty="0"/>
          </a:p>
        </p:txBody>
      </p:sp>
      <p:sp>
        <p:nvSpPr>
          <p:cNvPr id="9" name="Shape 6"/>
          <p:cNvSpPr/>
          <p:nvPr/>
        </p:nvSpPr>
        <p:spPr>
          <a:xfrm>
            <a:off x="2910436" y="1000125"/>
            <a:ext cx="2164473" cy="29289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0" name="Text 7"/>
          <p:cNvSpPr/>
          <p:nvPr/>
        </p:nvSpPr>
        <p:spPr>
          <a:xfrm>
            <a:off x="2910436" y="1000125"/>
            <a:ext cx="2164473" cy="29289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AVG LATTICE ERROR</a:t>
            </a:r>
            <a:endParaRPr lang="en-US" sz="683" dirty="0"/>
          </a:p>
        </p:txBody>
      </p:sp>
      <p:sp>
        <p:nvSpPr>
          <p:cNvPr id="11" name="Shape 8"/>
          <p:cNvSpPr/>
          <p:nvPr/>
        </p:nvSpPr>
        <p:spPr>
          <a:xfrm>
            <a:off x="5074909" y="1000125"/>
            <a:ext cx="1877076" cy="29289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2" name="Text 9"/>
          <p:cNvSpPr/>
          <p:nvPr/>
        </p:nvSpPr>
        <p:spPr>
          <a:xfrm>
            <a:off x="5074909" y="1000125"/>
            <a:ext cx="1877076" cy="29289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FORCE STABILITY</a:t>
            </a:r>
            <a:endParaRPr lang="en-US" sz="683" dirty="0"/>
          </a:p>
        </p:txBody>
      </p:sp>
      <p:sp>
        <p:nvSpPr>
          <p:cNvPr id="13" name="Shape 10"/>
          <p:cNvSpPr/>
          <p:nvPr/>
        </p:nvSpPr>
        <p:spPr>
          <a:xfrm>
            <a:off x="6951985" y="1000125"/>
            <a:ext cx="1763390" cy="29289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4" name="Text 11"/>
          <p:cNvSpPr/>
          <p:nvPr/>
        </p:nvSpPr>
        <p:spPr>
          <a:xfrm>
            <a:off x="6951985" y="1000125"/>
            <a:ext cx="1763390" cy="29289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TYPE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428625" y="1293019"/>
            <a:ext cx="811290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5753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727" dirty="0"/>
          </a:p>
        </p:txBody>
      </p:sp>
      <p:sp>
        <p:nvSpPr>
          <p:cNvPr id="16" name="Text 13"/>
          <p:cNvSpPr/>
          <p:nvPr/>
        </p:nvSpPr>
        <p:spPr>
          <a:xfrm>
            <a:off x="1311353" y="1364456"/>
            <a:ext cx="423267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5753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CHGNet</a:t>
            </a:r>
            <a:endParaRPr lang="en-US" sz="683" dirty="0"/>
          </a:p>
        </p:txBody>
      </p:sp>
      <p:sp>
        <p:nvSpPr>
          <p:cNvPr id="17" name="Text 14"/>
          <p:cNvSpPr/>
          <p:nvPr/>
        </p:nvSpPr>
        <p:spPr>
          <a:xfrm>
            <a:off x="2910436" y="1293019"/>
            <a:ext cx="2164473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5753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0.088%</a:t>
            </a:r>
            <a:endParaRPr lang="en-US" sz="727" dirty="0"/>
          </a:p>
        </p:txBody>
      </p:sp>
      <p:sp>
        <p:nvSpPr>
          <p:cNvPr id="18" name="Text 15"/>
          <p:cNvSpPr/>
          <p:nvPr/>
        </p:nvSpPr>
        <p:spPr>
          <a:xfrm>
            <a:off x="5074909" y="1293019"/>
            <a:ext cx="1877076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5753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1.62 eV/Å</a:t>
            </a:r>
            <a:endParaRPr lang="en-US" sz="727" dirty="0"/>
          </a:p>
        </p:txBody>
      </p:sp>
      <p:sp>
        <p:nvSpPr>
          <p:cNvPr id="19" name="Text 16"/>
          <p:cNvSpPr/>
          <p:nvPr/>
        </p:nvSpPr>
        <p:spPr>
          <a:xfrm>
            <a:off x="6951985" y="1293019"/>
            <a:ext cx="1763390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5753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MLIP (Pre-trained)</a:t>
            </a:r>
            <a:endParaRPr lang="en-US" sz="727" dirty="0"/>
          </a:p>
        </p:txBody>
      </p:sp>
      <p:sp>
        <p:nvSpPr>
          <p:cNvPr id="20" name="Text 17"/>
          <p:cNvSpPr/>
          <p:nvPr/>
        </p:nvSpPr>
        <p:spPr>
          <a:xfrm>
            <a:off x="428625" y="1564481"/>
            <a:ext cx="811290" cy="27860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5753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727" dirty="0"/>
          </a:p>
        </p:txBody>
      </p:sp>
      <p:sp>
        <p:nvSpPr>
          <p:cNvPr id="21" name="Text 18"/>
          <p:cNvSpPr/>
          <p:nvPr/>
        </p:nvSpPr>
        <p:spPr>
          <a:xfrm>
            <a:off x="1311353" y="1643063"/>
            <a:ext cx="62865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5753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MACE-MP-0</a:t>
            </a:r>
            <a:endParaRPr lang="en-US" sz="683" dirty="0"/>
          </a:p>
        </p:txBody>
      </p:sp>
      <p:sp>
        <p:nvSpPr>
          <p:cNvPr id="22" name="Text 19"/>
          <p:cNvSpPr/>
          <p:nvPr/>
        </p:nvSpPr>
        <p:spPr>
          <a:xfrm>
            <a:off x="2910436" y="1564481"/>
            <a:ext cx="2164473" cy="27860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5753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0.178%</a:t>
            </a:r>
            <a:endParaRPr lang="en-US" sz="727" dirty="0"/>
          </a:p>
        </p:txBody>
      </p:sp>
      <p:sp>
        <p:nvSpPr>
          <p:cNvPr id="23" name="Text 20"/>
          <p:cNvSpPr/>
          <p:nvPr/>
        </p:nvSpPr>
        <p:spPr>
          <a:xfrm>
            <a:off x="5074909" y="1564481"/>
            <a:ext cx="1877076" cy="27860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5753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1.41 eV/Å</a:t>
            </a:r>
            <a:endParaRPr lang="en-US" sz="727" dirty="0"/>
          </a:p>
        </p:txBody>
      </p:sp>
      <p:sp>
        <p:nvSpPr>
          <p:cNvPr id="24" name="Text 21"/>
          <p:cNvSpPr/>
          <p:nvPr/>
        </p:nvSpPr>
        <p:spPr>
          <a:xfrm>
            <a:off x="6951985" y="1564481"/>
            <a:ext cx="1763390" cy="27860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5753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MLIP (Pre-trained)</a:t>
            </a:r>
            <a:endParaRPr lang="en-US" sz="727" dirty="0"/>
          </a:p>
        </p:txBody>
      </p:sp>
      <p:sp>
        <p:nvSpPr>
          <p:cNvPr id="25" name="Text 22"/>
          <p:cNvSpPr/>
          <p:nvPr/>
        </p:nvSpPr>
        <p:spPr>
          <a:xfrm>
            <a:off x="428625" y="1843088"/>
            <a:ext cx="811290" cy="27860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5753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727" dirty="0"/>
          </a:p>
        </p:txBody>
      </p:sp>
      <p:sp>
        <p:nvSpPr>
          <p:cNvPr id="26" name="Text 23"/>
          <p:cNvSpPr/>
          <p:nvPr/>
        </p:nvSpPr>
        <p:spPr>
          <a:xfrm>
            <a:off x="1239915" y="1843088"/>
            <a:ext cx="1670521" cy="27860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5753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DPA-3 SemiCond</a:t>
            </a:r>
            <a:endParaRPr lang="en-US" sz="727" dirty="0"/>
          </a:p>
        </p:txBody>
      </p:sp>
      <p:sp>
        <p:nvSpPr>
          <p:cNvPr id="27" name="Text 24"/>
          <p:cNvSpPr/>
          <p:nvPr/>
        </p:nvSpPr>
        <p:spPr>
          <a:xfrm>
            <a:off x="2910436" y="1843088"/>
            <a:ext cx="2164473" cy="27860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5753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0.267%</a:t>
            </a:r>
            <a:endParaRPr lang="en-US" sz="727" dirty="0"/>
          </a:p>
        </p:txBody>
      </p:sp>
      <p:sp>
        <p:nvSpPr>
          <p:cNvPr id="28" name="Text 25"/>
          <p:cNvSpPr/>
          <p:nvPr/>
        </p:nvSpPr>
        <p:spPr>
          <a:xfrm>
            <a:off x="5074909" y="1843088"/>
            <a:ext cx="1877076" cy="27860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5753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2.13 eV/Å</a:t>
            </a:r>
            <a:endParaRPr lang="en-US" sz="727" dirty="0"/>
          </a:p>
        </p:txBody>
      </p:sp>
      <p:sp>
        <p:nvSpPr>
          <p:cNvPr id="29" name="Text 26"/>
          <p:cNvSpPr/>
          <p:nvPr/>
        </p:nvSpPr>
        <p:spPr>
          <a:xfrm>
            <a:off x="6951985" y="1843088"/>
            <a:ext cx="1763390" cy="27860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5753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MLIP (Pre-trained)</a:t>
            </a:r>
            <a:endParaRPr lang="en-US" sz="727" dirty="0"/>
          </a:p>
        </p:txBody>
      </p:sp>
      <p:sp>
        <p:nvSpPr>
          <p:cNvPr id="30" name="Text 27"/>
          <p:cNvSpPr/>
          <p:nvPr/>
        </p:nvSpPr>
        <p:spPr>
          <a:xfrm>
            <a:off x="428625" y="2121694"/>
            <a:ext cx="811290" cy="27860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5753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727" dirty="0"/>
          </a:p>
        </p:txBody>
      </p:sp>
      <p:sp>
        <p:nvSpPr>
          <p:cNvPr id="31" name="Text 28"/>
          <p:cNvSpPr/>
          <p:nvPr/>
        </p:nvSpPr>
        <p:spPr>
          <a:xfrm>
            <a:off x="1239915" y="2121694"/>
            <a:ext cx="1670521" cy="27860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5753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Tersoff / SW</a:t>
            </a:r>
            <a:endParaRPr lang="en-US" sz="727" dirty="0"/>
          </a:p>
        </p:txBody>
      </p:sp>
      <p:sp>
        <p:nvSpPr>
          <p:cNvPr id="32" name="Text 29"/>
          <p:cNvSpPr/>
          <p:nvPr/>
        </p:nvSpPr>
        <p:spPr>
          <a:xfrm>
            <a:off x="2910436" y="2121694"/>
            <a:ext cx="2164473" cy="27860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5753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~1.28%</a:t>
            </a:r>
            <a:endParaRPr lang="en-US" sz="727" dirty="0"/>
          </a:p>
        </p:txBody>
      </p:sp>
      <p:sp>
        <p:nvSpPr>
          <p:cNvPr id="33" name="Text 30"/>
          <p:cNvSpPr/>
          <p:nvPr/>
        </p:nvSpPr>
        <p:spPr>
          <a:xfrm>
            <a:off x="5074909" y="2121694"/>
            <a:ext cx="1877076" cy="27860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5753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~3.23 eV/Å</a:t>
            </a:r>
            <a:endParaRPr lang="en-US" sz="727" dirty="0"/>
          </a:p>
        </p:txBody>
      </p:sp>
      <p:sp>
        <p:nvSpPr>
          <p:cNvPr id="34" name="Text 31"/>
          <p:cNvSpPr/>
          <p:nvPr/>
        </p:nvSpPr>
        <p:spPr>
          <a:xfrm>
            <a:off x="6951985" y="2121694"/>
            <a:ext cx="1763390" cy="27860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5753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Classical</a:t>
            </a:r>
            <a:endParaRPr lang="en-US" sz="727" dirty="0"/>
          </a:p>
        </p:txBody>
      </p:sp>
      <p:sp>
        <p:nvSpPr>
          <p:cNvPr id="35" name="Shape 32"/>
          <p:cNvSpPr/>
          <p:nvPr/>
        </p:nvSpPr>
        <p:spPr>
          <a:xfrm>
            <a:off x="428625" y="2621756"/>
            <a:ext cx="4036219" cy="142875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36" name="Text 33"/>
          <p:cNvSpPr/>
          <p:nvPr/>
        </p:nvSpPr>
        <p:spPr>
          <a:xfrm>
            <a:off x="571500" y="2893219"/>
            <a:ext cx="375046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CA8A0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VERDICTS</a:t>
            </a:r>
            <a:endParaRPr lang="en-US" sz="885" dirty="0"/>
          </a:p>
        </p:txBody>
      </p:sp>
      <p:sp>
        <p:nvSpPr>
          <p:cNvPr id="37" name="Text 34"/>
          <p:cNvSpPr/>
          <p:nvPr/>
        </p:nvSpPr>
        <p:spPr>
          <a:xfrm>
            <a:off x="571500" y="3157538"/>
            <a:ext cx="3750469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Best Overall: CHGNet for structural precision.
Best for MD: MACE-MP-0 for smoothest PES.
Classical: Tersoff for accuracy; SW for stability.</a:t>
            </a:r>
            <a:endParaRPr lang="en-US" sz="780" dirty="0"/>
          </a:p>
        </p:txBody>
      </p:sp>
      <p:sp>
        <p:nvSpPr>
          <p:cNvPr id="38" name="Shape 35"/>
          <p:cNvSpPr/>
          <p:nvPr/>
        </p:nvSpPr>
        <p:spPr>
          <a:xfrm>
            <a:off x="4679156" y="2621756"/>
            <a:ext cx="4036219" cy="142875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39" name="Text 36"/>
          <p:cNvSpPr/>
          <p:nvPr/>
        </p:nvSpPr>
        <p:spPr>
          <a:xfrm>
            <a:off x="4822031" y="2893219"/>
            <a:ext cx="375046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CA8A0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</a:t>
            </a:r>
            <a:endParaRPr lang="en-US" sz="885" dirty="0"/>
          </a:p>
        </p:txBody>
      </p:sp>
      <p:sp>
        <p:nvSpPr>
          <p:cNvPr id="40" name="Text 37"/>
          <p:cNvSpPr/>
          <p:nvPr/>
        </p:nvSpPr>
        <p:spPr>
          <a:xfrm>
            <a:off x="4822031" y="3157538"/>
            <a:ext cx="3750469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Pre-trained MLIP foundation models achieve near-DFT accuracy without system-specific training, outperforming classical potentials by an order of magnitude in structural and energy predictions.</a:t>
            </a:r>
            <a:endParaRPr lang="en-US" sz="780" dirty="0"/>
          </a:p>
        </p:txBody>
      </p:sp>
      <p:sp>
        <p:nvSpPr>
          <p:cNvPr id="41" name="Shape 38"/>
          <p:cNvSpPr/>
          <p:nvPr/>
        </p:nvSpPr>
        <p:spPr>
          <a:xfrm>
            <a:off x="0" y="4714875"/>
            <a:ext cx="9144000" cy="428625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42" name="Text 39"/>
          <p:cNvSpPr/>
          <p:nvPr/>
        </p:nvSpPr>
        <p:spPr>
          <a:xfrm>
            <a:off x="428625" y="4850606"/>
            <a:ext cx="563284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C19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MLIPS ARE THE NEW STANDARD FOR HIGH-ACCURACY ATOMISTIC SIMULATIONS.</a:t>
            </a:r>
            <a:endParaRPr lang="en-US" sz="88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838</Words>
  <Application>Microsoft Office PowerPoint</Application>
  <PresentationFormat>On-screen Show (16:9)</PresentationFormat>
  <Paragraphs>178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Cambria Math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Bibhas Das</cp:lastModifiedBy>
  <cp:revision>2</cp:revision>
  <dcterms:created xsi:type="dcterms:W3CDTF">2026-04-05T05:18:54Z</dcterms:created>
  <dcterms:modified xsi:type="dcterms:W3CDTF">2026-04-05T05:42:20Z</dcterms:modified>
</cp:coreProperties>
</file>